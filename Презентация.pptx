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Montserrat SemiBold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Montserrat Medium"/>
      <p:regular r:id="rId38"/>
      <p:bold r:id="rId39"/>
      <p:italic r:id="rId40"/>
      <p:boldItalic r:id="rId41"/>
    </p:embeddedFont>
    <p:embeddedFont>
      <p:font typeface="Montserrat Light"/>
      <p:regular r:id="rId42"/>
      <p:bold r:id="rId43"/>
      <p:italic r:id="rId44"/>
      <p:boldItalic r:id="rId45"/>
    </p:embeddedFont>
    <p:embeddedFont>
      <p:font typeface="Open Sans Medium"/>
      <p:regular r:id="rId46"/>
      <p:bold r:id="rId47"/>
      <p:italic r:id="rId48"/>
      <p:boldItalic r:id="rId49"/>
    </p:embeddedFont>
    <p:embeddedFont>
      <p:font typeface="Open Sans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4" roundtripDataSignature="AMtx7mi5BehYo1bTcLIvvpvtCmoPeWEUE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于欣禾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7E30C19-772F-4A68-9C91-9CC569E6BC81}">
  <a:tblStyle styleId="{77E30C19-772F-4A68-9C91-9CC569E6BC8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italic.fntdata"/><Relationship Id="rId42" Type="http://schemas.openxmlformats.org/officeDocument/2006/relationships/font" Target="fonts/MontserratLight-regular.fntdata"/><Relationship Id="rId41" Type="http://schemas.openxmlformats.org/officeDocument/2006/relationships/font" Target="fonts/MontserratMedium-boldItalic.fntdata"/><Relationship Id="rId44" Type="http://schemas.openxmlformats.org/officeDocument/2006/relationships/font" Target="fonts/MontserratLight-italic.fntdata"/><Relationship Id="rId43" Type="http://schemas.openxmlformats.org/officeDocument/2006/relationships/font" Target="fonts/MontserratLight-bold.fntdata"/><Relationship Id="rId46" Type="http://schemas.openxmlformats.org/officeDocument/2006/relationships/font" Target="fonts/OpenSansMedium-regular.fntdata"/><Relationship Id="rId45" Type="http://schemas.openxmlformats.org/officeDocument/2006/relationships/font" Target="fonts/Montserrat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OpenSansMedium-italic.fntdata"/><Relationship Id="rId47" Type="http://schemas.openxmlformats.org/officeDocument/2006/relationships/font" Target="fonts/OpenSansMedium-bold.fntdata"/><Relationship Id="rId49" Type="http://schemas.openxmlformats.org/officeDocument/2006/relationships/font" Target="fonts/OpenSansMedium-boldItalic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SemiBold-bold.fntdata"/><Relationship Id="rId30" Type="http://schemas.openxmlformats.org/officeDocument/2006/relationships/font" Target="fonts/MontserratSemiBold-regular.fntdata"/><Relationship Id="rId33" Type="http://schemas.openxmlformats.org/officeDocument/2006/relationships/font" Target="fonts/MontserratSemiBold-boldItalic.fntdata"/><Relationship Id="rId32" Type="http://schemas.openxmlformats.org/officeDocument/2006/relationships/font" Target="fonts/MontserratSemiBold-italic.fntdata"/><Relationship Id="rId35" Type="http://schemas.openxmlformats.org/officeDocument/2006/relationships/font" Target="fonts/Montserrat-bold.fntdata"/><Relationship Id="rId34" Type="http://schemas.openxmlformats.org/officeDocument/2006/relationships/font" Target="fonts/Montserrat-regular.fntdata"/><Relationship Id="rId37" Type="http://schemas.openxmlformats.org/officeDocument/2006/relationships/font" Target="fonts/Montserrat-boldItalic.fntdata"/><Relationship Id="rId36" Type="http://schemas.openxmlformats.org/officeDocument/2006/relationships/font" Target="fonts/Montserrat-italic.fntdata"/><Relationship Id="rId39" Type="http://schemas.openxmlformats.org/officeDocument/2006/relationships/font" Target="fonts/MontserratMedium-bold.fntdata"/><Relationship Id="rId38" Type="http://schemas.openxmlformats.org/officeDocument/2006/relationships/font" Target="fonts/MontserratMedium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OpenSans-bold.fntdata"/><Relationship Id="rId50" Type="http://schemas.openxmlformats.org/officeDocument/2006/relationships/font" Target="fonts/OpenSans-regular.fntdata"/><Relationship Id="rId53" Type="http://schemas.openxmlformats.org/officeDocument/2006/relationships/font" Target="fonts/OpenSans-boldItalic.fntdata"/><Relationship Id="rId52" Type="http://schemas.openxmlformats.org/officeDocument/2006/relationships/font" Target="fonts/OpenSans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54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0T12:38:11.633">
    <p:pos x="10" y="10"/>
    <p:text>Настроены форматы шрифтов ФИО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_Ot1Kow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6-10T12:38:11.633">
    <p:pos x="10" y="10"/>
    <p:text>Добавила новый слайд Project Roadmap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_Ot1Ko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6-10T12:38:11.633">
    <p:pos x="10" y="10"/>
    <p:text>Переписала несколько АЯ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_Ot1Koo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6-10T12:38:11.633">
    <p:pos x="10" y="10"/>
    <p:text>Переписала английские фразы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_Ot1Kos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ac06ff23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ac06ff23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3.xm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4.xml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hyperlink" Target="https://x4fsxnxuvzhtzwhysaza4p.streamlit.app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295300" y="232350"/>
            <a:ext cx="21018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25" u="none" cap="none" strike="noStrike">
                <a:solidFill>
                  <a:srgbClr val="0E2D69"/>
                </a:solidFill>
                <a:latin typeface="Montserrat"/>
                <a:ea typeface="Montserrat"/>
                <a:cs typeface="Montserrat"/>
                <a:sym typeface="Montserrat"/>
              </a:rPr>
              <a:t>Social Network Analysis</a:t>
            </a:r>
            <a:endParaRPr b="0" i="0" sz="1025" u="none" cap="none" strike="noStrike">
              <a:solidFill>
                <a:srgbClr val="0E2D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703538" y="197550"/>
            <a:ext cx="18138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0" i="0" lang="en-US" sz="1025" u="none" cap="none" strike="noStrike">
                <a:solidFill>
                  <a:srgbClr val="0E2D69"/>
                </a:solidFill>
                <a:latin typeface="Montserrat"/>
                <a:ea typeface="Montserrat"/>
                <a:cs typeface="Montserrat"/>
                <a:sym typeface="Montserrat"/>
              </a:rPr>
              <a:t>Online</a:t>
            </a:r>
            <a:endParaRPr b="0" i="0" sz="1025" u="none" cap="none" strike="noStrike">
              <a:solidFill>
                <a:srgbClr val="0E2D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0" i="0" lang="en-US" sz="1025" u="none" cap="none" strike="noStrike">
                <a:solidFill>
                  <a:srgbClr val="0E2D69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b="0" i="0" sz="1025" u="none" cap="none" strike="noStrike">
              <a:solidFill>
                <a:srgbClr val="0E2D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t/>
            </a:r>
            <a:endParaRPr b="0" i="0" sz="1025" u="none" cap="none" strike="noStrike">
              <a:solidFill>
                <a:srgbClr val="0E2D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17925" y="1412900"/>
            <a:ext cx="7444800" cy="19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000" u="none" cap="none" strike="noStrike">
                <a:solidFill>
                  <a:srgbClr val="0E2D6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«Predicting friend connections based on shared game libraries on Steam using a homophily graph»</a:t>
            </a:r>
            <a:endParaRPr b="0" i="0" sz="3000" u="none" cap="none" strike="noStrike">
              <a:solidFill>
                <a:srgbClr val="0E2D6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E2D6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E2D6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15620" y="3265170"/>
            <a:ext cx="1572895" cy="1474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Reimikh Antoniy</a:t>
            </a:r>
            <a:endParaRPr b="1" i="0" sz="12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 Xinyi</a:t>
            </a:r>
            <a:br>
              <a:rPr b="1" i="0" lang="en-US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r>
              <a:rPr b="1" i="0" lang="en-US" sz="1200" u="none" cap="none" strike="noStrik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Yu Xinhe</a:t>
            </a:r>
            <a:endParaRPr b="1" i="0" sz="12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E2D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E2D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con&#10;&#10;Description automatically generated" id="58" name="Google Shape;5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"/>
          <p:cNvCxnSpPr/>
          <p:nvPr/>
        </p:nvCxnSpPr>
        <p:spPr>
          <a:xfrm rot="10800000">
            <a:off x="4152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"/>
          <p:cNvSpPr txBox="1"/>
          <p:nvPr/>
        </p:nvSpPr>
        <p:spPr>
          <a:xfrm>
            <a:off x="663850" y="122700"/>
            <a:ext cx="282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Higher School of Economy</a:t>
            </a:r>
            <a:endParaRPr b="0" i="0" sz="14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2" name="Google Shape;62;p1"/>
          <p:cNvCxnSpPr/>
          <p:nvPr/>
        </p:nvCxnSpPr>
        <p:spPr>
          <a:xfrm rot="10800000">
            <a:off x="6539925" y="10365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7" name="Google Shape;6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2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2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2"/>
          <p:cNvSpPr txBox="1"/>
          <p:nvPr/>
        </p:nvSpPr>
        <p:spPr>
          <a:xfrm>
            <a:off x="8094275" y="176550"/>
            <a:ext cx="482700" cy="3041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0" y="5057775"/>
            <a:ext cx="9144000" cy="85800"/>
          </a:xfrm>
          <a:prstGeom prst="rect">
            <a:avLst/>
          </a:prstGeom>
          <a:solidFill>
            <a:srgbClr val="0F2C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286200" y="722975"/>
            <a:ext cx="3417900" cy="4273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Project Roadmap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Introduction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74" name="Google Shape;74;p2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绘图1" id="75" name="Google Shape;7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312035"/>
            <a:ext cx="9144000" cy="746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80" name="Google Shape;8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3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3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3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0" y="5057775"/>
            <a:ext cx="9144000" cy="85800"/>
          </a:xfrm>
          <a:prstGeom prst="rect">
            <a:avLst/>
          </a:prstGeom>
          <a:solidFill>
            <a:srgbClr val="0F2C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286200" y="722975"/>
            <a:ext cx="341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Description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286200" y="1445675"/>
            <a:ext cx="8571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Massive </a:t>
            </a:r>
            <a:r>
              <a:rPr b="1" i="0" lang="en-US" sz="14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gaming communities</a:t>
            </a: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exhibit hidden friendship formation mechanics Steam’s player–game graph encodes social affinity via shared games (homophily).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Core analysis: we build a </a:t>
            </a:r>
            <a:r>
              <a:rPr b="1" i="0" lang="en-US" sz="14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player–player projection</a:t>
            </a: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(Jaccard similarity), </a:t>
            </a:r>
            <a:r>
              <a:rPr b="1" i="0" lang="en-US" sz="14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predict friendships</a:t>
            </a: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from game overlap, and validate against real friend lists.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Goal is to Identify “</a:t>
            </a:r>
            <a:r>
              <a:rPr b="1" i="0" lang="en-US" sz="14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bridge players</a:t>
            </a: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” across genres and blend graph structure with playtime data, linking social networks, mining, and recommender systems.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Introduction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88" name="Google Shape;88;p3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93" name="Google Shape;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4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4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4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286200" y="722975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Data Collection and Graph Construction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178375" y="1453383"/>
            <a:ext cx="8679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60045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With </a:t>
            </a:r>
            <a:r>
              <a:rPr b="1" i="0" lang="en-US" sz="14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Steam Web Api</a:t>
            </a: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we collected data about Steam players and games that they are playing </a:t>
            </a:r>
            <a:b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1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(steamIds, appid, game_name, playtime_forever)</a:t>
            </a: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●"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17,682 nodes</a:t>
            </a: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(500 steam users and 17,182 games).</a:t>
            </a:r>
            <a:br>
              <a:rPr b="1" i="0" lang="en-US" sz="1400" u="none" cap="none" strike="noStrike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i="0" sz="1400" u="none" cap="none" strike="noStrike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●"/>
            </a:pPr>
            <a:r>
              <a:rPr b="1" i="0" lang="en-US" sz="1400" u="none" cap="none" strike="noStrike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Game Edges:</a:t>
            </a:r>
            <a:endParaRPr b="1" i="0" sz="1400" u="none" cap="none" strike="noStrike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184538 weighted edges between steam users and games. </a:t>
            </a:r>
            <a:b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Weighted edges represent total playtime (hours).</a:t>
            </a:r>
            <a:endParaRPr b="0" i="0" sz="1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4A86E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●"/>
            </a:pPr>
            <a:r>
              <a:rPr b="1" i="0" lang="en-US" sz="1400" u="none" cap="none" strike="noStrike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  <a:t>Friends Edges:</a:t>
            </a:r>
            <a:br>
              <a:rPr b="1" i="0" lang="en-US" sz="1400" u="none" cap="none" strike="noStrike">
                <a:solidFill>
                  <a:srgbClr val="4A86E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125 edges between steam users (friend pairs).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Collection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00" name="Google Shape;100;p4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05" name="Google Shape;1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5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5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5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4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286200" y="722975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Graph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Collection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11" name="Google Shape;111;p5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5"/>
          <p:cNvSpPr txBox="1"/>
          <p:nvPr/>
        </p:nvSpPr>
        <p:spPr>
          <a:xfrm>
            <a:off x="101650" y="1710325"/>
            <a:ext cx="4167600" cy="22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b="0" i="0" lang="en-US" sz="1400" u="none" cap="none" strike="noStrike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Full graph is too dense</a:t>
            </a:r>
            <a:r>
              <a:rPr b="0" i="0" lang="en-US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for direct visualization. </a:t>
            </a:r>
            <a:br>
              <a:rPr b="0" i="0" lang="en-US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endParaRPr b="0" i="0" sz="14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 Medium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Therefore, </a:t>
            </a:r>
            <a:r>
              <a:rPr b="0" i="0" lang="en-US" sz="1400" u="none" cap="none" strike="noStrike">
                <a:solidFill>
                  <a:schemeClr val="accen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rely on quantitative metrics</a:t>
            </a:r>
            <a:r>
              <a:rPr b="0" i="0" lang="en-US" sz="1400" u="none" cap="none" strike="noStrik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(AUC-ROC, feature importance) to evaluate performance.</a:t>
            </a:r>
            <a:endParaRPr b="0" i="0" sz="1400" u="none" cap="none" strike="noStrik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13" name="Google Shape;113;p5" title="projected_graph_with_bridges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69250" y="638150"/>
            <a:ext cx="4505349" cy="450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6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6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5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274675" y="577138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Player Embeddings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Feature Engineering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24" name="Google Shape;124;p6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5" name="Google Shape;125;p6" title="embedding_visualizati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675" y="917786"/>
            <a:ext cx="8594662" cy="368462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 txBox="1"/>
          <p:nvPr/>
        </p:nvSpPr>
        <p:spPr>
          <a:xfrm>
            <a:off x="327750" y="4567704"/>
            <a:ext cx="84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1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No clear clustering</a:t>
            </a: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— friendship depends not just on gaming profile similarity, but on social graph structure. 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motivates graph-based methods (</a:t>
            </a: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GAE</a:t>
            </a: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 and </a:t>
            </a: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structural heuristics</a:t>
            </a: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7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7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7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6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274675" y="577138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Jaccard Similarity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Analysis of Homophily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37" name="Google Shape;137;p7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7"/>
          <p:cNvSpPr txBox="1"/>
          <p:nvPr/>
        </p:nvSpPr>
        <p:spPr>
          <a:xfrm>
            <a:off x="327750" y="4567704"/>
            <a:ext cx="84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Jaccard similarity does not</a:t>
            </a:r>
            <a:r>
              <a:rPr b="1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meaningfully </a:t>
            </a: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distinguish friends from non-friends</a:t>
            </a:r>
            <a:r>
              <a:rPr b="1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— distributions almost completely overlap.</a:t>
            </a:r>
            <a:endParaRPr b="1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9" name="Google Shape;139;p7" title="jaccard_distributi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9050" y="1008250"/>
            <a:ext cx="6070800" cy="364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44" name="Google Shape;1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8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8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8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7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274675" y="577138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Playtime Quartile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Analysis of Homophily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50" name="Google Shape;150;p8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1" name="Google Shape;151;p8" title="playtime_stratifi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7475" y="1035796"/>
            <a:ext cx="6029051" cy="36174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327750" y="4567704"/>
            <a:ext cx="84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Homophily peaks among moderately active players (Q2–Q3) and nearly disappears among high-playtime users (Q4), who share games broadly regardless of friendship</a:t>
            </a:r>
            <a:endParaRPr b="1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57" name="Google Shape;1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9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9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9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8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274675" y="577138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Genre Similarity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Analysis of Homophily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63" name="Google Shape;163;p9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9"/>
          <p:cNvSpPr txBox="1"/>
          <p:nvPr/>
        </p:nvSpPr>
        <p:spPr>
          <a:xfrm>
            <a:off x="327750" y="4567704"/>
            <a:ext cx="84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Friends have higher genre similarity than non-friends</a:t>
            </a:r>
            <a:r>
              <a:rPr b="1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but like Jaccard, the distributions overlap substantially — genre alone is not sufficient for prediction.</a:t>
            </a:r>
            <a:endParaRPr b="1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5" name="Google Shape;165;p9" title="genre_similarity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9300" y="1008250"/>
            <a:ext cx="5988915" cy="359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70" name="Google Shape;1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0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10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10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9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274675" y="577138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Link Prediction features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0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Link Prediction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76" name="Google Shape;176;p10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7" name="Google Shape;177;p10" title="Distribution of link Prediction Featur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375" y="938849"/>
            <a:ext cx="7369251" cy="36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 txBox="1"/>
          <p:nvPr/>
        </p:nvSpPr>
        <p:spPr>
          <a:xfrm>
            <a:off x="327750" y="4567704"/>
            <a:ext cx="84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Common neighbors has the longest tail on log scale due to possible popular neighbors (like streamers).</a:t>
            </a:r>
            <a:br>
              <a:rPr b="1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Using </a:t>
            </a: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Adamic-Adar better balances tail length with neighbor rarity</a:t>
            </a:r>
            <a:r>
              <a:rPr b="1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1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11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11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11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10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274675" y="577138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Heuristic Baseline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Link Prediction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89" name="Google Shape;189;p11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1"/>
          <p:cNvSpPr txBox="1"/>
          <p:nvPr/>
        </p:nvSpPr>
        <p:spPr>
          <a:xfrm>
            <a:off x="327750" y="4567704"/>
            <a:ext cx="84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Adamic-Adar</a:t>
            </a: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Common Neighbors</a:t>
            </a: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achieve the highest AUC-ROC (~0.82), indicating </a:t>
            </a: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strong</a:t>
            </a: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ranking </a:t>
            </a: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performance</a:t>
            </a: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for </a:t>
            </a: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link prediction</a:t>
            </a:r>
            <a:r>
              <a:rPr b="1" i="0" lang="en-US" sz="1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1" i="0" sz="1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91" name="Google Shape;191;p11" title="auc_comparis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3112" y="943375"/>
            <a:ext cx="7357774" cy="367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96" name="Google Shape;1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12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12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12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11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274675" y="577138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Feature Importance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Link Prediction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02" name="Google Shape;202;p12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12"/>
          <p:cNvSpPr txBox="1"/>
          <p:nvPr/>
        </p:nvSpPr>
        <p:spPr>
          <a:xfrm>
            <a:off x="327750" y="4567704"/>
            <a:ext cx="84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Adamic-Adar</a:t>
            </a:r>
            <a:r>
              <a:rPr b="1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dominates feature importance, indicating that </a:t>
            </a: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rare shared neighbors</a:t>
            </a:r>
            <a:r>
              <a:rPr b="1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are the </a:t>
            </a:r>
            <a:r>
              <a:rPr b="1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strongest predictor of friendship.</a:t>
            </a:r>
            <a:endParaRPr b="1" i="0" sz="1000" u="none" cap="none" strike="noStrik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4" name="Google Shape;204;p12" title="feature_importanc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688" y="1008250"/>
            <a:ext cx="8476619" cy="35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09" name="Google Shape;20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13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13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3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12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Link Prediction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14" name="Google Shape;214;p13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13"/>
          <p:cNvSpPr txBox="1"/>
          <p:nvPr/>
        </p:nvSpPr>
        <p:spPr>
          <a:xfrm>
            <a:off x="77800" y="1070300"/>
            <a:ext cx="32070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36004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achieved the </a:t>
            </a:r>
            <a:r>
              <a:rPr b="0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best</a:t>
            </a: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AUC.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36004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36004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features exhibit a largely </a:t>
            </a:r>
            <a:r>
              <a:rPr b="0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linear structure.</a:t>
            </a:r>
            <a:endParaRPr b="0" i="0" sz="1000" u="none" cap="none" strike="noStrik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36004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36004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XGBoost and Random Forest likely overfit due to extreme class imbalance.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36004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92100" lvl="0" marL="36004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Tree-based models</a:t>
            </a: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struggle with rare positive class — they tend to create </a:t>
            </a:r>
            <a:r>
              <a:rPr b="0" i="0" lang="en-US" sz="10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overly specific rules for the minority class</a:t>
            </a: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which don't generalize.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6" name="Google Shape;216;p13" title="roc_compariso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9775" y="834950"/>
            <a:ext cx="5441400" cy="40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 txBox="1"/>
          <p:nvPr/>
        </p:nvSpPr>
        <p:spPr>
          <a:xfrm>
            <a:off x="286200" y="722975"/>
            <a:ext cx="189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ROC Curves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22" name="Google Shape;2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14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14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4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13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Link Prediction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27" name="Google Shape;227;p14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8" name="Google Shape;228;p14" title="gae_training_curv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4076" y="1547187"/>
            <a:ext cx="5108775" cy="25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4"/>
          <p:cNvSpPr txBox="1"/>
          <p:nvPr/>
        </p:nvSpPr>
        <p:spPr>
          <a:xfrm>
            <a:off x="353785" y="1341910"/>
            <a:ext cx="3091800" cy="29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model learns quickly during the first ~35 epochs, then gradually fine-tunes with minor fluctuations, reaching ~0.85 by epoch 200.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Stable convergence indicates successful training.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Unlike previous methods that use hand-crafted features, GAE learns node embeddings directly from the graph structure via a Graph Convolutional Network (GCN) encoder and a dot-product decoder.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i="0" lang="en-US" sz="12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The GAE dramatically outperforms all other methods, achieving 0.9664 AUC-ROC and 0.9269 AUC-PR</a:t>
            </a: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.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286200" y="722975"/>
            <a:ext cx="189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GAE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35" name="Google Shape;2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p15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15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15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14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274675" y="577138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Comparison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Link Prediction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41" name="Google Shape;241;p15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2" name="Google Shape;2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375" y="1035788"/>
            <a:ext cx="5801732" cy="383046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5"/>
          <p:cNvSpPr txBox="1"/>
          <p:nvPr/>
        </p:nvSpPr>
        <p:spPr>
          <a:xfrm>
            <a:off x="6157400" y="1324315"/>
            <a:ext cx="2786700" cy="29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9705" lvl="0" marL="17970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Graph Autoencoder is absolute leader</a:t>
            </a: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and only model with meaningful top-K precision.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9705" lvl="0" marL="17970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9705" lvl="0" marL="17970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Logistic Regression ranks fails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at top-K due to extreme class imbalance.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9705" lvl="0" marL="17970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79705" lvl="0" marL="17970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Node2Vec alone is weak.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48" name="Google Shape;248;g3eac06ff238_0_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g3eac06ff238_0_61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g3eac06ff238_0_61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g3eac06ff238_0_61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15</a:t>
            </a:r>
            <a:endParaRPr sz="800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52" name="Google Shape;252;g3eac06ff238_0_61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Bridge Players</a:t>
            </a:r>
            <a:endParaRPr sz="1200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53" name="Google Shape;253;g3eac06ff238_0_61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" name="Google Shape;254;g3eac06ff238_0_61"/>
          <p:cNvSpPr txBox="1"/>
          <p:nvPr/>
        </p:nvSpPr>
        <p:spPr>
          <a:xfrm>
            <a:off x="398350" y="909625"/>
            <a:ext cx="3387300" cy="21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b="1" lang="en-US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Cross-genre friendships </a:t>
            </a:r>
            <a:br>
              <a:rPr b="1" lang="en-US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are</a:t>
            </a:r>
            <a:r>
              <a:rPr b="1" lang="en-US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 rare.</a:t>
            </a:r>
            <a:br>
              <a:rPr b="1" lang="en-US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Most </a:t>
            </a:r>
            <a:r>
              <a:rPr b="1" lang="en-US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friendships stay within</a:t>
            </a: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genre </a:t>
            </a:r>
            <a:r>
              <a:rPr b="1" lang="en-US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clusters</a:t>
            </a: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b="1" lang="en-US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b="1" sz="1200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b="1" lang="en-US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Bridge players</a:t>
            </a: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connect friend groups with </a:t>
            </a:r>
            <a:r>
              <a:rPr b="1" lang="en-US" sz="1200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distinct genre preferences</a:t>
            </a:r>
            <a:r>
              <a:rPr lang="en-US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55" name="Google Shape;255;g3eac06ff238_0_61"/>
          <p:cNvGraphicFramePr/>
          <p:nvPr/>
        </p:nvGraphicFramePr>
        <p:xfrm>
          <a:off x="4299563" y="9107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{77E30C19-772F-4A68-9C91-9CC569E6BC81}</a:tableStyleId>
              </a:tblPr>
              <a:tblGrid>
                <a:gridCol w="1354875"/>
                <a:gridCol w="1017850"/>
                <a:gridCol w="626450"/>
                <a:gridCol w="1037975"/>
              </a:tblGrid>
              <a:tr h="332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2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SteamID (suffix)</a:t>
                      </a:r>
                      <a:endParaRPr b="1" sz="800">
                        <a:solidFill>
                          <a:srgbClr val="1A1A2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2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Genre Entropy</a:t>
                      </a:r>
                      <a:endParaRPr b="1" sz="800">
                        <a:solidFill>
                          <a:srgbClr val="1A1A2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2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Genres</a:t>
                      </a:r>
                      <a:endParaRPr b="1" sz="800">
                        <a:solidFill>
                          <a:srgbClr val="1A1A2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2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Games Owned</a:t>
                      </a:r>
                      <a:endParaRPr b="1" sz="800">
                        <a:solidFill>
                          <a:srgbClr val="1A1A2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5"/>
                    </a:solidFill>
                  </a:tcPr>
                </a:tc>
              </a:tr>
              <a:tr h="255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76561198214557257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2.361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56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76561198851552649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2.343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83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76561198093653706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2.342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127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76561198402381154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2.323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21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137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76561198127370976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2.319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67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6" name="Google Shape;256;g3eac06ff238_0_61"/>
          <p:cNvGraphicFramePr/>
          <p:nvPr/>
        </p:nvGraphicFramePr>
        <p:xfrm>
          <a:off x="3565963" y="378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{77E30C19-772F-4A68-9C91-9CC569E6BC81}</a:tableStyleId>
              </a:tblPr>
              <a:tblGrid>
                <a:gridCol w="1807700"/>
                <a:gridCol w="888200"/>
                <a:gridCol w="844425"/>
                <a:gridCol w="900700"/>
                <a:gridCol w="1063350"/>
              </a:tblGrid>
              <a:tr h="28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2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Player</a:t>
                      </a:r>
                      <a:endParaRPr b="1" sz="800">
                        <a:solidFill>
                          <a:srgbClr val="1A1A2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2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Entropy</a:t>
                      </a:r>
                      <a:endParaRPr b="1" sz="800">
                        <a:solidFill>
                          <a:srgbClr val="1A1A2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2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Friends</a:t>
                      </a:r>
                      <a:endParaRPr b="1" sz="800">
                        <a:solidFill>
                          <a:srgbClr val="1A1A2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2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Clusters</a:t>
                      </a:r>
                      <a:endParaRPr b="1" sz="800">
                        <a:solidFill>
                          <a:srgbClr val="1A1A2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00">
                          <a:solidFill>
                            <a:srgbClr val="1A1A2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Silhouette</a:t>
                      </a:r>
                      <a:endParaRPr b="1" sz="800">
                        <a:solidFill>
                          <a:srgbClr val="1A1A2E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5"/>
                    </a:solidFill>
                  </a:tcPr>
                </a:tc>
              </a:tr>
              <a:tr h="28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76561198066127782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2.215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0.488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76561198069291813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2.143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0.468</a:t>
                      </a:r>
                      <a:endParaRPr sz="800">
                        <a:solidFill>
                          <a:srgbClr val="333333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5250" marB="95250" marR="133350" marL="133350" anchor="ctr">
                    <a:lnT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E8EC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7" name="Google Shape;257;g3eac06ff238_0_61"/>
          <p:cNvSpPr/>
          <p:nvPr/>
        </p:nvSpPr>
        <p:spPr>
          <a:xfrm>
            <a:off x="398350" y="3960400"/>
            <a:ext cx="2565900" cy="652500"/>
          </a:xfrm>
          <a:prstGeom prst="roundRect">
            <a:avLst>
              <a:gd fmla="val 0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 Confirmed Cross-Genre Bridges</a:t>
            </a: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from top 10%</a:t>
            </a:r>
            <a:endParaRPr sz="1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g3eac06ff238_0_61"/>
          <p:cNvSpPr txBox="1"/>
          <p:nvPr/>
        </p:nvSpPr>
        <p:spPr>
          <a:xfrm>
            <a:off x="5561425" y="602993"/>
            <a:ext cx="126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Max entropy: </a:t>
            </a:r>
            <a:r>
              <a:rPr lang="en-U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2.36</a:t>
            </a:r>
            <a:endParaRPr sz="800"/>
          </a:p>
        </p:txBody>
      </p:sp>
      <p:sp>
        <p:nvSpPr>
          <p:cNvPr id="259" name="Google Shape;259;g3eac06ff238_0_61"/>
          <p:cNvSpPr txBox="1"/>
          <p:nvPr/>
        </p:nvSpPr>
        <p:spPr>
          <a:xfrm>
            <a:off x="5330725" y="2911043"/>
            <a:ext cx="172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Min entropy: </a:t>
            </a:r>
            <a:r>
              <a:rPr lang="en-US" sz="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0.92</a:t>
            </a:r>
            <a:endParaRPr/>
          </a:p>
        </p:txBody>
      </p:sp>
      <p:cxnSp>
        <p:nvCxnSpPr>
          <p:cNvPr id="260" name="Google Shape;260;g3eac06ff238_0_61"/>
          <p:cNvCxnSpPr/>
          <p:nvPr/>
        </p:nvCxnSpPr>
        <p:spPr>
          <a:xfrm>
            <a:off x="-96675" y="3454669"/>
            <a:ext cx="962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65" name="Google Shape;2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17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17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17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16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274675" y="577138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Friend Recommendation &amp; Influencer Detection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Practical Deployment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271" name="Google Shape;271;p17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7"/>
          <p:cNvSpPr txBox="1"/>
          <p:nvPr/>
        </p:nvSpPr>
        <p:spPr>
          <a:xfrm>
            <a:off x="515575" y="1035788"/>
            <a:ext cx="30918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Friend Recommendation Engine</a:t>
            </a:r>
            <a:endParaRPr b="1" i="0" sz="12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3" name="Google Shape;273;p17"/>
          <p:cNvCxnSpPr>
            <a:stCxn id="274" idx="2"/>
          </p:cNvCxnSpPr>
          <p:nvPr/>
        </p:nvCxnSpPr>
        <p:spPr>
          <a:xfrm>
            <a:off x="2061475" y="2265327"/>
            <a:ext cx="0" cy="82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" name="Google Shape;275;p17"/>
          <p:cNvCxnSpPr>
            <a:endCxn id="276" idx="0"/>
          </p:cNvCxnSpPr>
          <p:nvPr/>
        </p:nvCxnSpPr>
        <p:spPr>
          <a:xfrm>
            <a:off x="1063675" y="3969227"/>
            <a:ext cx="0" cy="36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" name="Google Shape;274;p17"/>
          <p:cNvSpPr/>
          <p:nvPr/>
        </p:nvSpPr>
        <p:spPr>
          <a:xfrm>
            <a:off x="1082575" y="1654527"/>
            <a:ext cx="1957800" cy="610800"/>
          </a:xfrm>
          <a:prstGeom prst="roundRect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Projected player graph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Jaccard + CN + AA scores 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1082575" y="3087652"/>
            <a:ext cx="1957800" cy="610800"/>
          </a:xfrm>
          <a:prstGeom prst="roundRect">
            <a:avLst>
              <a:gd fmla="val 50000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Pruned GEXF graph 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17"/>
          <p:cNvSpPr txBox="1"/>
          <p:nvPr/>
        </p:nvSpPr>
        <p:spPr>
          <a:xfrm>
            <a:off x="2226175" y="2380990"/>
            <a:ext cx="1195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Filtering:</a:t>
            </a:r>
            <a:endParaRPr b="0" i="0" sz="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1" lang="en-US" sz="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Configurable thresholds;</a:t>
            </a:r>
            <a:br>
              <a:rPr b="0" i="1" lang="en-US" sz="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1" lang="en-US" sz="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Common Neighbors ≥ 5;</a:t>
            </a:r>
            <a:br>
              <a:rPr b="0" i="1" lang="en-US" sz="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1" lang="en-US" sz="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e.t.c</a:t>
            </a:r>
            <a:endParaRPr b="0" i="1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515575" y="4329827"/>
            <a:ext cx="1096200" cy="610800"/>
          </a:xfrm>
          <a:prstGeom prst="roundRect">
            <a:avLst>
              <a:gd fmla="val 1395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Gephi visualization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2506425" y="4329827"/>
            <a:ext cx="1096200" cy="610800"/>
          </a:xfrm>
          <a:prstGeom prst="roundRect">
            <a:avLst>
              <a:gd fmla="val 1395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"Players Like You"</a:t>
            </a:r>
            <a:endParaRPr b="0" i="0" sz="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recommendation system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80" name="Google Shape;280;p17"/>
          <p:cNvCxnSpPr>
            <a:stCxn id="277" idx="2"/>
          </p:cNvCxnSpPr>
          <p:nvPr/>
        </p:nvCxnSpPr>
        <p:spPr>
          <a:xfrm flipH="1">
            <a:off x="2061175" y="3698452"/>
            <a:ext cx="300" cy="27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7"/>
          <p:cNvCxnSpPr/>
          <p:nvPr/>
        </p:nvCxnSpPr>
        <p:spPr>
          <a:xfrm rot="10800000">
            <a:off x="1065100" y="3972827"/>
            <a:ext cx="995400" cy="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7"/>
          <p:cNvCxnSpPr/>
          <p:nvPr/>
        </p:nvCxnSpPr>
        <p:spPr>
          <a:xfrm rot="10800000">
            <a:off x="2062150" y="3972827"/>
            <a:ext cx="995400" cy="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17"/>
          <p:cNvCxnSpPr/>
          <p:nvPr/>
        </p:nvCxnSpPr>
        <p:spPr>
          <a:xfrm>
            <a:off x="3054525" y="3972827"/>
            <a:ext cx="0" cy="360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4" name="Google Shape;284;p17"/>
          <p:cNvSpPr txBox="1"/>
          <p:nvPr/>
        </p:nvSpPr>
        <p:spPr>
          <a:xfrm>
            <a:off x="5045325" y="1035788"/>
            <a:ext cx="30918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Cross-Genre Influencer Detection</a:t>
            </a:r>
            <a:endParaRPr b="1" i="0" sz="12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5312025" y="1866525"/>
            <a:ext cx="2558400" cy="822300"/>
          </a:xfrm>
          <a:prstGeom prst="roundRect">
            <a:avLst>
              <a:gd fmla="val 0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Logic</a:t>
            </a: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90170" lvl="0" marL="90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high genre entropy users (2.14–2.36)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90170" lvl="0" marL="90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K-Means on friends' genre vectors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5312025" y="2688825"/>
            <a:ext cx="2558400" cy="822300"/>
          </a:xfrm>
          <a:prstGeom prst="roundRect">
            <a:avLst>
              <a:gd fmla="val 0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Validation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90170" lvl="0" marL="90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Identify high genre entropy users (2.14–2.36)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90170" lvl="0" marL="90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K-Means on friends' genre vectors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5312025" y="3511125"/>
            <a:ext cx="2558400" cy="822300"/>
          </a:xfrm>
          <a:prstGeom prst="roundRect">
            <a:avLst>
              <a:gd fmla="val 0" name="adj"/>
            </a:avLst>
          </a:prstGeom>
          <a:solidFill>
            <a:srgbClr val="D0E0E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Business Value</a:t>
            </a: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90170" lvl="0" marL="90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Community management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90170" lvl="0" marL="90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Cross-promotion campaigns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90170" lvl="0" marL="9017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Influencer outreach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"/>
          <p:cNvSpPr/>
          <p:nvPr/>
        </p:nvSpPr>
        <p:spPr>
          <a:xfrm>
            <a:off x="72425" y="1070302"/>
            <a:ext cx="8942400" cy="2208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18"/>
          <p:cNvCxnSpPr/>
          <p:nvPr/>
        </p:nvCxnSpPr>
        <p:spPr>
          <a:xfrm>
            <a:off x="1332991" y="2405168"/>
            <a:ext cx="1167900" cy="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Icon&#10;&#10;Description automatically generated" id="294" name="Google Shape;2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5" name="Google Shape;295;p18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18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8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8" name="Google Shape;298;p18"/>
          <p:cNvSpPr txBox="1"/>
          <p:nvPr/>
        </p:nvSpPr>
        <p:spPr>
          <a:xfrm>
            <a:off x="274675" y="577138"/>
            <a:ext cx="632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GAE-Based Prediction Service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18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Practical Deployment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00" name="Google Shape;300;p18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18"/>
          <p:cNvSpPr txBox="1"/>
          <p:nvPr/>
        </p:nvSpPr>
        <p:spPr>
          <a:xfrm>
            <a:off x="2525625" y="916893"/>
            <a:ext cx="30918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GAE Friend Recommendation API </a:t>
            </a:r>
            <a:endParaRPr b="1" i="0" sz="12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2" name="Google Shape;302;p18"/>
          <p:cNvGrpSpPr/>
          <p:nvPr/>
        </p:nvGrpSpPr>
        <p:grpSpPr>
          <a:xfrm>
            <a:off x="289816" y="1661993"/>
            <a:ext cx="1054500" cy="1398300"/>
            <a:chOff x="515575" y="1835175"/>
            <a:chExt cx="1054500" cy="1398300"/>
          </a:xfrm>
        </p:grpSpPr>
        <p:sp>
          <p:nvSpPr>
            <p:cNvPr id="303" name="Google Shape;303;p18"/>
            <p:cNvSpPr/>
            <p:nvPr/>
          </p:nvSpPr>
          <p:spPr>
            <a:xfrm>
              <a:off x="515575" y="1835175"/>
              <a:ext cx="1054500" cy="576000"/>
            </a:xfrm>
            <a:prstGeom prst="roundRect">
              <a:avLst>
                <a:gd fmla="val 0" name="adj"/>
              </a:avLst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INPUT</a:t>
              </a:r>
              <a:endPara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515575" y="2411175"/>
              <a:ext cx="1054500" cy="822300"/>
            </a:xfrm>
            <a:prstGeom prst="roundRect">
              <a:avLst>
                <a:gd fmla="val 0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53670" lvl="0" marL="1797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Open Sans"/>
                <a:buChar char="●"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New player</a:t>
              </a:r>
              <a:endPara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153670" lvl="0" marL="1797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Open Sans"/>
                <a:buChar char="●"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Game</a:t>
              </a:r>
              <a:endParaRPr b="0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153670" lvl="0" marL="1797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Open Sans"/>
                <a:buChar char="●"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Library</a:t>
              </a:r>
              <a:endPara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05" name="Google Shape;305;p18"/>
          <p:cNvGrpSpPr/>
          <p:nvPr/>
        </p:nvGrpSpPr>
        <p:grpSpPr>
          <a:xfrm>
            <a:off x="2504941" y="1661993"/>
            <a:ext cx="1323300" cy="1398300"/>
            <a:chOff x="2730700" y="1835175"/>
            <a:chExt cx="1323300" cy="1398300"/>
          </a:xfrm>
        </p:grpSpPr>
        <p:sp>
          <p:nvSpPr>
            <p:cNvPr id="306" name="Google Shape;306;p18"/>
            <p:cNvSpPr/>
            <p:nvPr/>
          </p:nvSpPr>
          <p:spPr>
            <a:xfrm>
              <a:off x="2730700" y="1835175"/>
              <a:ext cx="1323300" cy="576000"/>
            </a:xfrm>
            <a:prstGeom prst="roundRect">
              <a:avLst>
                <a:gd fmla="val 0" name="adj"/>
              </a:avLst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ENCODING</a:t>
              </a:r>
              <a:endPara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2730700" y="2411175"/>
              <a:ext cx="1323300" cy="822300"/>
            </a:xfrm>
            <a:prstGeom prst="roundRect">
              <a:avLst>
                <a:gd fmla="val 0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53670" lvl="0" marL="1797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Open Sans"/>
                <a:buChar char="●"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Node2Vec</a:t>
              </a:r>
              <a:br>
                <a:rPr b="0" i="0" lang="en-US" sz="10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</a:br>
              <a:r>
                <a:rPr b="0" i="0" lang="en-US" sz="10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(pre-computed)</a:t>
              </a:r>
              <a:endPara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308" name="Google Shape;308;p18"/>
          <p:cNvCxnSpPr/>
          <p:nvPr/>
        </p:nvCxnSpPr>
        <p:spPr>
          <a:xfrm>
            <a:off x="3832291" y="2405168"/>
            <a:ext cx="1167900" cy="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09" name="Google Shape;309;p18"/>
          <p:cNvGrpSpPr/>
          <p:nvPr/>
        </p:nvGrpSpPr>
        <p:grpSpPr>
          <a:xfrm>
            <a:off x="5004241" y="1661993"/>
            <a:ext cx="1323300" cy="1398300"/>
            <a:chOff x="2730700" y="1835175"/>
            <a:chExt cx="1323300" cy="1398300"/>
          </a:xfrm>
        </p:grpSpPr>
        <p:sp>
          <p:nvSpPr>
            <p:cNvPr id="310" name="Google Shape;310;p18"/>
            <p:cNvSpPr/>
            <p:nvPr/>
          </p:nvSpPr>
          <p:spPr>
            <a:xfrm>
              <a:off x="2730700" y="1835175"/>
              <a:ext cx="1323300" cy="576000"/>
            </a:xfrm>
            <a:prstGeom prst="roundRect">
              <a:avLst>
                <a:gd fmla="val 0" name="adj"/>
              </a:avLst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MODEL</a:t>
              </a:r>
              <a:endPara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2730700" y="2411175"/>
              <a:ext cx="1323300" cy="822300"/>
            </a:xfrm>
            <a:prstGeom prst="roundRect">
              <a:avLst>
                <a:gd fmla="val 0" name="adj"/>
              </a:avLst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53670" lvl="0" marL="1797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Open Sans"/>
                <a:buChar char="●"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GAE (trained)</a:t>
              </a:r>
              <a:endPara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312" name="Google Shape;312;p18"/>
          <p:cNvCxnSpPr/>
          <p:nvPr/>
        </p:nvCxnSpPr>
        <p:spPr>
          <a:xfrm>
            <a:off x="6327541" y="2405168"/>
            <a:ext cx="1167900" cy="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13" name="Google Shape;313;p18"/>
          <p:cNvGrpSpPr/>
          <p:nvPr/>
        </p:nvGrpSpPr>
        <p:grpSpPr>
          <a:xfrm>
            <a:off x="7499491" y="1661993"/>
            <a:ext cx="1323300" cy="1398300"/>
            <a:chOff x="2730700" y="1835175"/>
            <a:chExt cx="1323300" cy="1398300"/>
          </a:xfrm>
        </p:grpSpPr>
        <p:sp>
          <p:nvSpPr>
            <p:cNvPr id="314" name="Google Shape;314;p18"/>
            <p:cNvSpPr/>
            <p:nvPr/>
          </p:nvSpPr>
          <p:spPr>
            <a:xfrm>
              <a:off x="2730700" y="1835175"/>
              <a:ext cx="1323300" cy="576000"/>
            </a:xfrm>
            <a:prstGeom prst="roundRect">
              <a:avLst>
                <a:gd fmla="val 0" name="adj"/>
              </a:avLst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OUTPUT</a:t>
              </a:r>
              <a:endPara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2730700" y="2411175"/>
              <a:ext cx="1323300" cy="822300"/>
            </a:xfrm>
            <a:prstGeom prst="roundRect">
              <a:avLst>
                <a:gd fmla="val 0" name="adj"/>
              </a:avLst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153670" lvl="0" marL="1797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Open Sans"/>
                <a:buChar char="●"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Top-K friend suggestions</a:t>
              </a:r>
              <a:endParaRPr b="0" i="0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cxnSp>
        <p:nvCxnSpPr>
          <p:cNvPr id="316" name="Google Shape;316;p18"/>
          <p:cNvCxnSpPr>
            <a:stCxn id="292" idx="2"/>
            <a:endCxn id="317" idx="0"/>
          </p:cNvCxnSpPr>
          <p:nvPr/>
        </p:nvCxnSpPr>
        <p:spPr>
          <a:xfrm>
            <a:off x="4543625" y="3278302"/>
            <a:ext cx="0" cy="692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p18"/>
          <p:cNvSpPr/>
          <p:nvPr/>
        </p:nvSpPr>
        <p:spPr>
          <a:xfrm>
            <a:off x="3411275" y="3970818"/>
            <a:ext cx="2264700" cy="774300"/>
          </a:xfrm>
          <a:prstGeom prst="roundRect">
            <a:avLst>
              <a:gd fmla="val 13957" name="adj"/>
            </a:avLst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Deployment</a:t>
            </a:r>
            <a:br>
              <a:rPr b="1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0" i="0" lang="en-US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Containerized API (FastAPI)</a:t>
            </a:r>
            <a:b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Real-time inference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22" name="Google Shape;32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19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9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19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18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6" name="Google Shape;326;p19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27" name="Google Shape;327;p19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9"/>
          <p:cNvSpPr txBox="1"/>
          <p:nvPr/>
        </p:nvSpPr>
        <p:spPr>
          <a:xfrm>
            <a:off x="348600" y="1273475"/>
            <a:ext cx="8446800" cy="3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●"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Homophily exists: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Friend pairs have ~54% higher mean Jaccard game similarity (0.122 vs 0.079), confirming that shared game libraries are a meaningful signal for friendship.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●"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Bridge players connect communities: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50 high-entropy bridge players were identified, with 2 confirmed as cross-genre connectors via ego-network clustering.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●"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Heuristic methods cap at ~0.83 AUC-ROC: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Adamic-Adar and Common Neighbors perform best among unsupervised methods but plateau well below learned approaches.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Open Sans"/>
              <a:buChar char="●"/>
            </a:pPr>
            <a:r>
              <a:rPr b="1" i="0" lang="en-US" sz="12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rPr>
              <a:t>GAE dominates: </a:t>
            </a:r>
            <a:endParaRPr b="1" i="0" sz="1200" u="none" cap="none" strike="noStrik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Graph Autoencoders with Node2Vec features achieve 0.9664 AUC-ROC, far exceeding heuristic and ML baselines. The GAE is the only model that produces meaningful Precision@k results (0.90 P@10).</a:t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286200" y="722975"/>
            <a:ext cx="189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Key Takeaways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34" name="Google Shape;3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20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20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0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8" name="Google Shape;338;p20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39" name="Google Shape;339;p20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20"/>
          <p:cNvSpPr txBox="1"/>
          <p:nvPr/>
        </p:nvSpPr>
        <p:spPr>
          <a:xfrm>
            <a:off x="348600" y="1273475"/>
            <a:ext cx="8446800" cy="3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Enrich genre coverage using the Steam API appdetails endpoint (with rate-limit mitigation)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 label all 17,182 games.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Explore temporal features (when games were played) and social graph features (triadic closure)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beyond shared game libraries.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Deploy the GAE as a real-time recommendation service with incremental training for new players.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Extend bridge player analysis with network centrality measures (betweenness, closeness) </a:t>
            </a:r>
            <a:b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on the projected graph.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Collect a larger, more diverse sample across gaming communities to validate generalizability.</a:t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286200" y="722975"/>
            <a:ext cx="1896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2C68"/>
                </a:solidFill>
                <a:latin typeface="Montserrat"/>
                <a:ea typeface="Montserrat"/>
                <a:cs typeface="Montserrat"/>
                <a:sym typeface="Montserrat"/>
              </a:rPr>
              <a:t>Future Work</a:t>
            </a:r>
            <a:endParaRPr b="1" i="0" sz="1600" u="none" cap="none" strike="noStrike">
              <a:solidFill>
                <a:srgbClr val="0F2C6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46" name="Google Shape;3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75" y="161850"/>
            <a:ext cx="337200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p21"/>
          <p:cNvCxnSpPr/>
          <p:nvPr/>
        </p:nvCxnSpPr>
        <p:spPr>
          <a:xfrm rot="10800000">
            <a:off x="789665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8" name="Google Shape;348;p21"/>
          <p:cNvCxnSpPr/>
          <p:nvPr/>
        </p:nvCxnSpPr>
        <p:spPr>
          <a:xfrm rot="10800000">
            <a:off x="87746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21"/>
          <p:cNvSpPr txBox="1"/>
          <p:nvPr/>
        </p:nvSpPr>
        <p:spPr>
          <a:xfrm>
            <a:off x="8094275" y="176550"/>
            <a:ext cx="48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19</a:t>
            </a:r>
            <a:endParaRPr b="0" i="0" sz="8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631900" y="145800"/>
            <a:ext cx="209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F2C6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Conclusion</a:t>
            </a:r>
            <a:endParaRPr b="0" i="0" sz="1200" u="none" cap="none" strike="noStrike">
              <a:solidFill>
                <a:srgbClr val="0F2C68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351" name="Google Shape;351;p21"/>
          <p:cNvCxnSpPr/>
          <p:nvPr/>
        </p:nvCxnSpPr>
        <p:spPr>
          <a:xfrm rot="10800000">
            <a:off x="2870500" y="111300"/>
            <a:ext cx="0" cy="438300"/>
          </a:xfrm>
          <a:prstGeom prst="straightConnector1">
            <a:avLst/>
          </a:prstGeom>
          <a:noFill/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21"/>
          <p:cNvSpPr txBox="1"/>
          <p:nvPr/>
        </p:nvSpPr>
        <p:spPr>
          <a:xfrm>
            <a:off x="348600" y="1840275"/>
            <a:ext cx="8426100" cy="17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https://x4fsxnxuvzhtzwhysaza4p.streamlit.app</a:t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402" y="0"/>
            <a:ext cx="9205202" cy="515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2026-06-10T12:09:30Z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F82A6D9FCE694ECA8311C49AD6DAB5BE_12</vt:lpwstr>
  </property>
</Properties>
</file>